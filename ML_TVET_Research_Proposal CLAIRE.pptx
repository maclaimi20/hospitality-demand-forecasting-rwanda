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9" r:id="rId13"/>
    <p:sldId id="270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84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6773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48C3D-AA8E-0D1D-4C4A-C3CB70992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C9D887-4040-94B9-C2A6-9B75F6F937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750782-AA64-7CB8-9D15-E4124E163E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79A6CD-78BE-852B-3635-6D0336322C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7757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73152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800" b="1" u="sng" dirty="0">
                <a:solidFill>
                  <a:schemeClr val="bg1"/>
                </a:solidFill>
              </a:rPr>
              <a:t>Project title</a:t>
            </a:r>
            <a:r>
              <a:rPr lang="en-US" sz="2800" b="1" dirty="0">
                <a:solidFill>
                  <a:schemeClr val="bg1"/>
                </a:solidFill>
              </a:rPr>
              <a:t>: A Predictive Machine Learning Framework for Hospitality Consumable Demand Forecasting in Rwandan TVET Institutions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2331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AB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571474" y="2468880"/>
            <a:ext cx="5029200" cy="1645920"/>
          </a:xfrm>
          <a:prstGeom prst="rect">
            <a:avLst/>
          </a:prstGeom>
          <a:solidFill>
            <a:srgbClr val="132A3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NRERE UMUHIRE Marie Claire</a:t>
            </a:r>
          </a:p>
        </p:txBody>
      </p:sp>
      <p:sp>
        <p:nvSpPr>
          <p:cNvPr id="10" name="Text 8"/>
          <p:cNvSpPr/>
          <p:nvPr/>
        </p:nvSpPr>
        <p:spPr>
          <a:xfrm>
            <a:off x="4987526" y="3703320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7</a:t>
            </a:r>
            <a:r>
              <a:rPr lang="en-US" sz="1200" baseline="3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April 2026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132320" y="365760"/>
            <a:ext cx="1828800" cy="1828800"/>
          </a:xfrm>
          <a:prstGeom prst="ellipse">
            <a:avLst/>
          </a:prstGeom>
          <a:solidFill>
            <a:srgbClr val="0E7C7B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680960" y="1371600"/>
            <a:ext cx="1188720" cy="1188720"/>
          </a:xfrm>
          <a:prstGeom prst="ellipse">
            <a:avLst/>
          </a:prstGeom>
          <a:solidFill>
            <a:srgbClr val="D4A017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17920" y="3200400"/>
            <a:ext cx="2560320" cy="1645920"/>
          </a:xfrm>
          <a:prstGeom prst="ellipse">
            <a:avLst/>
          </a:prstGeom>
          <a:solidFill>
            <a:srgbClr val="0E7C7B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6052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502920" cy="841248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38328" y="112471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9418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Background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28930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Context, TVET landscape &amp; ML in supply chain</a:t>
            </a:r>
          </a:p>
        </p:txBody>
      </p:sp>
      <p:sp>
        <p:nvSpPr>
          <p:cNvPr id="9" name="Shape 7"/>
          <p:cNvSpPr/>
          <p:nvPr/>
        </p:nvSpPr>
        <p:spPr>
          <a:xfrm>
            <a:off x="411480" y="1896449"/>
            <a:ext cx="416052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1874520"/>
            <a:ext cx="502920" cy="841248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8328" y="213055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19476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29514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 challenges in Rwandan TVET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880360"/>
            <a:ext cx="416052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2880360"/>
            <a:ext cx="502920" cy="841248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8328" y="313639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29535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30098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&amp; specific research objectives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886200"/>
            <a:ext cx="416052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0040" y="3886200"/>
            <a:ext cx="502920" cy="841248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8328" y="414223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39593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Limitations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430682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 and constraints of the study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868680"/>
            <a:ext cx="416052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0" y="868680"/>
            <a:ext cx="502920" cy="841248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73168" y="112471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49240" y="9418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49240" y="128930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 to theory and practice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1874520"/>
            <a:ext cx="416052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54880" y="1874520"/>
            <a:ext cx="502920" cy="841248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73168" y="213055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49240" y="19476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&amp; Gaps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49240" y="229514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research and identified gaps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54880" y="2880360"/>
            <a:ext cx="416052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754880" y="2880360"/>
            <a:ext cx="502920" cy="841248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73168" y="313639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49240" y="29535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49240" y="330098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design, data &amp; ML models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754880" y="3886200"/>
            <a:ext cx="416052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754880" y="3886200"/>
            <a:ext cx="502920" cy="841248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773168" y="414223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394960" y="4115043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49240" y="430682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INTRODUCTION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8463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54864" cy="91440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992124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and Vocational Education and Training (TVET) institutions are central to Rwanda's Vision 2050. Hospitality programmes equip students with culinary arts, front office, and food &amp; beverage skills.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759775"/>
            <a:ext cx="48463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801368"/>
            <a:ext cx="54864" cy="91440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856232"/>
            <a:ext cx="4617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940794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operations depend on consumable ingredients, cleaning agents, and teaching materials. Demand varies with enrolment cycles, practical sessions, and academic calendars.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825496"/>
            <a:ext cx="48463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2825496"/>
            <a:ext cx="54864" cy="91440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040380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TVET stores use manual record book or simple spreadsheets, resulting in over-stocking of some items and critical shortages of others  wasting public funds and degrading training quality.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849624"/>
            <a:ext cx="48463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" y="3849624"/>
            <a:ext cx="54864" cy="91440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34340" y="4041648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 can detect hidden patterns in historical consumption, enrolment, and seasonal data to generate accurate, automated demand forecasts.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77840" y="777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CONTEXT FIGURES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2642564"/>
              </p:ext>
            </p:extLst>
          </p:nvPr>
        </p:nvGraphicFramePr>
        <p:xfrm>
          <a:off x="5486400" y="1097280"/>
          <a:ext cx="3383280" cy="2813304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Accredited TVET institutions (RWA)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~350+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Hospitality-track TVET schools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students/school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200–400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Consumable categories tracked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15–30+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annual waste (est.)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allocation (consumables)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~20% TVET operations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forecast accuracy (literature)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85–95%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5486400" y="4114800"/>
            <a:ext cx="3383280" cy="73152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577840" y="4133088"/>
            <a:ext cx="32004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Rwanda targets 60% TVET enrolment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2024 under NST1 — consumable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is mission-critical.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PROBLEM STATEMENT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914400"/>
          </a:xfrm>
          <a:prstGeom prst="rect">
            <a:avLst/>
          </a:prstGeom>
          <a:solidFill>
            <a:srgbClr val="132A3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64008" cy="91440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" y="822960"/>
            <a:ext cx="8211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TVET hospitality institutions in Rwanda lack a data-driven mechanism for forecasting consumable demand, resulting in chronic over- or under-procurement that impairs practical training quality and misallocates limited institutional budgets.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874520"/>
            <a:ext cx="4160520" cy="1188720"/>
          </a:xfrm>
          <a:prstGeom prst="rect">
            <a:avLst/>
          </a:prstGeom>
          <a:solidFill>
            <a:srgbClr val="132A3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9768" y="19842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41832" y="19842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B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&amp; Reactive Systems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is based on experience, not data. No historical consumption database exists in most institutions.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874520"/>
            <a:ext cx="4160520" cy="1188720"/>
          </a:xfrm>
          <a:prstGeom prst="rect">
            <a:avLst/>
          </a:prstGeom>
          <a:solidFill>
            <a:srgbClr val="132A3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64608" y="19842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76672" y="19842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B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Demand Variability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23774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fluctuates with calendar (exams, events), enrolment size, practical timetables, and seasonal menus.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3246120"/>
            <a:ext cx="4160520" cy="1188720"/>
          </a:xfrm>
          <a:prstGeom prst="rect">
            <a:avLst/>
          </a:prstGeom>
          <a:solidFill>
            <a:srgbClr val="132A3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9768" y="33558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41832" y="33558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B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r>
              <a:rPr lang="en-US" sz="1100" b="1" dirty="0">
                <a:solidFill>
                  <a:srgbClr val="1AB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>
                <a:solidFill>
                  <a:srgbClr val="1AB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7490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Wastage due to spoilage and overstocking erodes thin budgets; shortages disrupt training schedules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3246120"/>
            <a:ext cx="4160520" cy="1188720"/>
          </a:xfrm>
          <a:prstGeom prst="rect">
            <a:avLst/>
          </a:prstGeom>
          <a:solidFill>
            <a:srgbClr val="132A3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64608" y="33558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376672" y="33558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B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Predictive Tool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37490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ML-based forecasting solution exists tailored to Rwandan TVET hospitality contexts.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RESEARCH OBJECTIVES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20040" y="758952"/>
            <a:ext cx="8503920" cy="658368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75488" y="7955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OBJECTIVE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" y="102412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develop and validate a Machine Learning model that accurately predicts hospitality consumable demand in Rwanda TVET institutions.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00200"/>
            <a:ext cx="85039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600200"/>
            <a:ext cx="685800" cy="566928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73736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05840" y="1783080"/>
            <a:ext cx="658368" cy="219456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178308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83080" y="1691640"/>
            <a:ext cx="6903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historical consumption patterns of hospitality consumables across selected TVET institutions.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267712"/>
            <a:ext cx="85039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2267712"/>
            <a:ext cx="685800" cy="566928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" y="240487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05840" y="2450592"/>
            <a:ext cx="658368" cy="219456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05840" y="245059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83080" y="2359152"/>
            <a:ext cx="6903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key demand drivers (enrolment, timetable, seasonality, events) influencing consumable usage.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2935224"/>
            <a:ext cx="85039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0040" y="2935224"/>
            <a:ext cx="685800" cy="566928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307238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SO3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05840" y="3118104"/>
            <a:ext cx="658368" cy="219456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005840" y="311810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783080" y="3026664"/>
            <a:ext cx="6903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/>
              <a:t>To develop and train multiple machine learning models for consumable demand prediction.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0040" y="3602736"/>
            <a:ext cx="85039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" y="3602736"/>
            <a:ext cx="685800" cy="566928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" y="373989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SO4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005840" y="3785616"/>
            <a:ext cx="658368" cy="219456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05840" y="378561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783080" y="3694176"/>
            <a:ext cx="6903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20040" y="4407408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60120" y="378003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828800" y="3663669"/>
            <a:ext cx="6903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a scalable decision-support framework for consumable procurement in Rwandan TVET institutions.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SCOPE &amp; LIMITATIONS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THE STUDY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5328983"/>
              </p:ext>
            </p:extLst>
          </p:nvPr>
        </p:nvGraphicFramePr>
        <p:xfrm>
          <a:off x="320040" y="1051560"/>
          <a:ext cx="4114800" cy="2852928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Geographic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Selected TVET institutions in Rwanda (Musanze, Eastern &amp; Western provinces)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Institutional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Hospitality &amp; Tourism programmes (culinary arts, F&amp;B, housekeeping)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Historical data: 3–5 academic years; 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Consumable Types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Food ingredients, cleaning agents, uniforms, small equipment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 to 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Forest, XGBoost, Linear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800600" y="74980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000" dirty="0"/>
          </a:p>
        </p:txBody>
      </p:sp>
      <p:sp>
        <p:nvSpPr>
          <p:cNvPr id="5" name="Shape 4"/>
          <p:cNvSpPr/>
          <p:nvPr/>
        </p:nvSpPr>
        <p:spPr>
          <a:xfrm>
            <a:off x="4754880" y="1051560"/>
            <a:ext cx="4069080" cy="67665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754880" y="1051560"/>
            <a:ext cx="64008" cy="67665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800600" y="10881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257800" y="108813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Availability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864608" y="1389888"/>
            <a:ext cx="3858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Digitised records may be incomplete; some schools rely on paper-based stock registers.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0" y="1828800"/>
            <a:ext cx="4069080" cy="67665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754880" y="1828800"/>
            <a:ext cx="64008" cy="67665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800600" y="18653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257800" y="186537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864608" y="2167128"/>
            <a:ext cx="3858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limited to selected TVET schools; findings may not generalise to all institutions.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754880" y="2606040"/>
            <a:ext cx="4069080" cy="67665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754880" y="2606040"/>
            <a:ext cx="64008" cy="67665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800600" y="26426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257800" y="264261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Generalisation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864608" y="2944368"/>
            <a:ext cx="3858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trained on Rwandan data may require retraining for other countries.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SIGNIFICANCE OF THE STUDY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743200" cy="1920240"/>
          </a:xfrm>
          <a:prstGeom prst="rect">
            <a:avLst/>
          </a:prstGeom>
          <a:solidFill>
            <a:srgbClr val="132A3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2743200" cy="347472"/>
          </a:xfrm>
          <a:prstGeom prst="rect">
            <a:avLst/>
          </a:prstGeom>
          <a:solidFill>
            <a:srgbClr val="1AB5A3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11480" y="8412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9768" y="1216152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Procurement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" y="1581912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C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store managers to generate data-driven purchase orders, reducing waste by an estimated 10–20%.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777240"/>
            <a:ext cx="2743200" cy="1920240"/>
          </a:xfrm>
          <a:prstGeom prst="rect">
            <a:avLst/>
          </a:prstGeom>
          <a:solidFill>
            <a:srgbClr val="132A3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46120" y="777240"/>
            <a:ext cx="2743200" cy="347472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37560" y="8412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55848" y="1216152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Quality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55848" y="1581912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C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availability of consumables ensures uninterrupted practical sessions and better competency outcomes.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777240"/>
            <a:ext cx="2743200" cy="1920240"/>
          </a:xfrm>
          <a:prstGeom prst="rect">
            <a:avLst/>
          </a:prstGeom>
          <a:solidFill>
            <a:srgbClr val="132A3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72200" y="777240"/>
            <a:ext cx="2743200" cy="347472"/>
          </a:xfrm>
          <a:prstGeom prst="rect">
            <a:avLst/>
          </a:prstGeom>
          <a:solidFill>
            <a:srgbClr val="1AB5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63640" y="8412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81928" y="1216152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Efficiency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81928" y="1581912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C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stock levels free up 8–15% of consumable budgets, which can be redirected to equipment upgrades.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2880360"/>
            <a:ext cx="2743200" cy="1920240"/>
          </a:xfrm>
          <a:prstGeom prst="rect">
            <a:avLst/>
          </a:prstGeom>
          <a:solidFill>
            <a:srgbClr val="132A3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0040" y="2880360"/>
            <a:ext cx="2743200" cy="347472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1480" y="294436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29768" y="3319272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&amp; RTB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9768" y="3685032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C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the RTB  evidence-based tools to standardise TVET procurement frameworks.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46120" y="2880360"/>
            <a:ext cx="2743200" cy="1920240"/>
          </a:xfrm>
          <a:prstGeom prst="rect">
            <a:avLst/>
          </a:prstGeom>
          <a:solidFill>
            <a:srgbClr val="132A3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46120" y="2880360"/>
            <a:ext cx="2743200" cy="347472"/>
          </a:xfrm>
          <a:prstGeom prst="rect">
            <a:avLst/>
          </a:prstGeom>
          <a:solidFill>
            <a:srgbClr val="1AB5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37560" y="294436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55848" y="3319272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Contribution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55848" y="3685032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C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a documented gap in ML applications for TVET supply chain management in Sub-Saharan Africa</a:t>
            </a:r>
            <a:r>
              <a:rPr lang="en-US" sz="950" dirty="0">
                <a:solidFill>
                  <a:srgbClr val="AEC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72200" y="2880360"/>
            <a:ext cx="2743200" cy="1920240"/>
          </a:xfrm>
          <a:prstGeom prst="rect">
            <a:avLst/>
          </a:prstGeom>
          <a:solidFill>
            <a:srgbClr val="132A3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172200" y="2880360"/>
            <a:ext cx="2743200" cy="347472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63640" y="294436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81928" y="3319272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Replicable Model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81928" y="3685032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C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can be adapted to TVET institutions in other African countries with similar procurement challenges.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LITERATURE REVIEW  &amp; RESEARCH GAPS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STUDIES REVIEWED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0560657"/>
              </p:ext>
            </p:extLst>
          </p:nvPr>
        </p:nvGraphicFramePr>
        <p:xfrm>
          <a:off x="320039" y="1024129"/>
          <a:ext cx="8338931" cy="3308074"/>
        </p:xfrm>
        <a:graphic>
          <a:graphicData uri="http://schemas.openxmlformats.org/drawingml/2006/table">
            <a:tbl>
              <a:tblPr/>
              <a:tblGrid>
                <a:gridCol w="1787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9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27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72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Author(s) / 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Used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72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Zhang et al. (2022)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 + ARIMA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Restaurant supply chain, China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7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Ferreira et al. (2021)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 food inventory, Brazil  where e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xisting models focus on retail/commercial settings  not resource-constrained public institutions.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7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Mugisha &amp; Uwera (2021)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TVET procurement, Rwanda but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Literature lacks multi-feature models combining enrolment, timetable, and seasonal demand drivers.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391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Makoni et al. (2022)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Academic calendar effects have been identified as significant predictors , but no research has operationalized TVET-specific features such as practical examination schedules, module rotation patterns, and student cohort size dynamics.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72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MINEDUC Rwanda (2022)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TVET budget analysis, Rwanda,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however there is no decision-support system proposed for store managers in African TVET settings.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|  RESEARCH METHODOLOGY — OVERVIEW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4023360" cy="2286000"/>
          </a:xfrm>
          <a:prstGeom prst="rect">
            <a:avLst/>
          </a:prstGeom>
          <a:solidFill>
            <a:srgbClr val="132A3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120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AB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DESIGN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1057614"/>
              </p:ext>
            </p:extLst>
          </p:nvPr>
        </p:nvGraphicFramePr>
        <p:xfrm>
          <a:off x="320040" y="1078992"/>
          <a:ext cx="4023360" cy="1645920"/>
        </p:xfrm>
        <a:graphic>
          <a:graphicData uri="http://schemas.openxmlformats.org/drawingml/2006/table">
            <a:tbl>
              <a:tblPr/>
              <a:tblGrid>
                <a:gridCol w="12336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9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B5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B5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Study — selected TVET institutions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B5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Longitudinal (3–5 yr historical 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B5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of Analysis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Consumable item at institutional level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3154680"/>
            <a:ext cx="4023360" cy="1737360"/>
          </a:xfrm>
          <a:prstGeom prst="rect">
            <a:avLst/>
          </a:prstGeom>
          <a:solidFill>
            <a:srgbClr val="132A3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1200"/>
          </a:p>
        </p:txBody>
      </p:sp>
      <p:sp>
        <p:nvSpPr>
          <p:cNvPr id="8" name="Text 5"/>
          <p:cNvSpPr/>
          <p:nvPr/>
        </p:nvSpPr>
        <p:spPr>
          <a:xfrm>
            <a:off x="457200" y="3200400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AB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</a:t>
            </a:r>
            <a:endParaRPr lang="en-US" sz="12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2061105"/>
              </p:ext>
            </p:extLst>
          </p:nvPr>
        </p:nvGraphicFramePr>
        <p:xfrm>
          <a:off x="320040" y="3493008"/>
          <a:ext cx="4023360" cy="1664208"/>
        </p:xfrm>
        <a:graphic>
          <a:graphicData uri="http://schemas.openxmlformats.org/drawingml/2006/table">
            <a:tbl>
              <a:tblPr/>
              <a:tblGrid>
                <a:gridCol w="12012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2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B5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Purposive sampling technic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B5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Schools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8–12 TVET institutions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B5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points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3 yrs monthly records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B5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Respondents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officers, school leaders and teaching staff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4709160" y="749808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</a:t>
            </a:r>
            <a:endParaRPr lang="en-US" sz="1200" dirty="0"/>
          </a:p>
        </p:txBody>
      </p:sp>
      <p:sp>
        <p:nvSpPr>
          <p:cNvPr id="6" name="Shape 7"/>
          <p:cNvSpPr/>
          <p:nvPr/>
        </p:nvSpPr>
        <p:spPr>
          <a:xfrm>
            <a:off x="4663440" y="1033272"/>
            <a:ext cx="384048" cy="50292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12" name="Text 8"/>
          <p:cNvSpPr/>
          <p:nvPr/>
        </p:nvSpPr>
        <p:spPr>
          <a:xfrm>
            <a:off x="4663440" y="112471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074920" y="1033272"/>
            <a:ext cx="3749040" cy="502920"/>
          </a:xfrm>
          <a:prstGeom prst="rect">
            <a:avLst/>
          </a:prstGeom>
          <a:solidFill>
            <a:srgbClr val="132A3E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14" name="Text 10"/>
          <p:cNvSpPr/>
          <p:nvPr/>
        </p:nvSpPr>
        <p:spPr>
          <a:xfrm>
            <a:off x="5193792" y="106070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193792" y="130759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B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data in Stock registers, LMS enrolment, calendar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800600" y="1536192"/>
            <a:ext cx="109728" cy="173736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17" name="Shape 13"/>
          <p:cNvSpPr/>
          <p:nvPr/>
        </p:nvSpPr>
        <p:spPr>
          <a:xfrm>
            <a:off x="4663440" y="1709928"/>
            <a:ext cx="384048" cy="50292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18" name="Text 14"/>
          <p:cNvSpPr/>
          <p:nvPr/>
        </p:nvSpPr>
        <p:spPr>
          <a:xfrm>
            <a:off x="4663440" y="1801368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074920" y="1709928"/>
            <a:ext cx="3749040" cy="502920"/>
          </a:xfrm>
          <a:prstGeom prst="rect">
            <a:avLst/>
          </a:prstGeom>
          <a:solidFill>
            <a:srgbClr val="132A3E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20" name="Text 16"/>
          <p:cNvSpPr/>
          <p:nvPr/>
        </p:nvSpPr>
        <p:spPr>
          <a:xfrm>
            <a:off x="5193792" y="17373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</a:t>
            </a:r>
            <a:endParaRPr lang="en-US" sz="1200" dirty="0"/>
          </a:p>
        </p:txBody>
      </p:sp>
      <p:sp>
        <p:nvSpPr>
          <p:cNvPr id="9" name="Text 17"/>
          <p:cNvSpPr/>
          <p:nvPr/>
        </p:nvSpPr>
        <p:spPr>
          <a:xfrm>
            <a:off x="5193792" y="198424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B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Imputation, outlier removal, normalisation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800600" y="2212848"/>
            <a:ext cx="109728" cy="173736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23" name="Shape 19"/>
          <p:cNvSpPr/>
          <p:nvPr/>
        </p:nvSpPr>
        <p:spPr>
          <a:xfrm>
            <a:off x="4663440" y="2386584"/>
            <a:ext cx="384048" cy="50292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24" name="Text 20"/>
          <p:cNvSpPr/>
          <p:nvPr/>
        </p:nvSpPr>
        <p:spPr>
          <a:xfrm>
            <a:off x="4663440" y="2478024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5074920" y="2386584"/>
            <a:ext cx="3749040" cy="502920"/>
          </a:xfrm>
          <a:prstGeom prst="rect">
            <a:avLst/>
          </a:prstGeom>
          <a:solidFill>
            <a:srgbClr val="132A3E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26" name="Text 22"/>
          <p:cNvSpPr/>
          <p:nvPr/>
        </p:nvSpPr>
        <p:spPr>
          <a:xfrm>
            <a:off x="5193792" y="241401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5193792" y="266090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B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vars, rolling means, event dummies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4800600" y="2889504"/>
            <a:ext cx="109728" cy="173736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29" name="Shape 25"/>
          <p:cNvSpPr/>
          <p:nvPr/>
        </p:nvSpPr>
        <p:spPr>
          <a:xfrm>
            <a:off x="4663440" y="3063240"/>
            <a:ext cx="384048" cy="50292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30" name="Text 26"/>
          <p:cNvSpPr/>
          <p:nvPr/>
        </p:nvSpPr>
        <p:spPr>
          <a:xfrm>
            <a:off x="4663440" y="3154680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5074920" y="3063240"/>
            <a:ext cx="3749040" cy="502920"/>
          </a:xfrm>
          <a:prstGeom prst="rect">
            <a:avLst/>
          </a:prstGeom>
          <a:solidFill>
            <a:srgbClr val="132A3E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32" name="Text 28"/>
          <p:cNvSpPr/>
          <p:nvPr/>
        </p:nvSpPr>
        <p:spPr>
          <a:xfrm>
            <a:off x="5193792" y="309067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5193792" y="333756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B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Randon Forest · </a:t>
            </a:r>
            <a:r>
              <a:rPr lang="en-US" sz="1200" dirty="0" err="1">
                <a:solidFill>
                  <a:srgbClr val="1AB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sz="1200" dirty="0">
                <a:solidFill>
                  <a:srgbClr val="1AB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·Linear Regression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4800600" y="3566160"/>
            <a:ext cx="109728" cy="173736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35" name="Shape 31"/>
          <p:cNvSpPr/>
          <p:nvPr/>
        </p:nvSpPr>
        <p:spPr>
          <a:xfrm>
            <a:off x="4663440" y="3739896"/>
            <a:ext cx="384048" cy="50292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36" name="Text 32"/>
          <p:cNvSpPr/>
          <p:nvPr/>
        </p:nvSpPr>
        <p:spPr>
          <a:xfrm>
            <a:off x="4663440" y="3831336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Shape 33"/>
          <p:cNvSpPr/>
          <p:nvPr/>
        </p:nvSpPr>
        <p:spPr>
          <a:xfrm>
            <a:off x="5074920" y="3739896"/>
            <a:ext cx="3749040" cy="502920"/>
          </a:xfrm>
          <a:prstGeom prst="rect">
            <a:avLst/>
          </a:prstGeom>
          <a:solidFill>
            <a:srgbClr val="132A3E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38" name="Text 34"/>
          <p:cNvSpPr/>
          <p:nvPr/>
        </p:nvSpPr>
        <p:spPr>
          <a:xfrm>
            <a:off x="5193792" y="376732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9" name="Text 35"/>
          <p:cNvSpPr/>
          <p:nvPr/>
        </p:nvSpPr>
        <p:spPr>
          <a:xfrm>
            <a:off x="5193792" y="401421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AB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(Mean absolute error)· RMSE (Root Mean Square Error)</a:t>
            </a:r>
          </a:p>
        </p:txBody>
      </p:sp>
      <p:sp>
        <p:nvSpPr>
          <p:cNvPr id="40" name="Shape 36"/>
          <p:cNvSpPr/>
          <p:nvPr/>
        </p:nvSpPr>
        <p:spPr>
          <a:xfrm>
            <a:off x="4800600" y="4242816"/>
            <a:ext cx="109728" cy="173736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41" name="Shape 37"/>
          <p:cNvSpPr/>
          <p:nvPr/>
        </p:nvSpPr>
        <p:spPr>
          <a:xfrm>
            <a:off x="4663440" y="4416552"/>
            <a:ext cx="384048" cy="50292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42" name="Text 38"/>
          <p:cNvSpPr/>
          <p:nvPr/>
        </p:nvSpPr>
        <p:spPr>
          <a:xfrm>
            <a:off x="4663440" y="450799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3" name="Shape 39"/>
          <p:cNvSpPr/>
          <p:nvPr/>
        </p:nvSpPr>
        <p:spPr>
          <a:xfrm>
            <a:off x="5074920" y="4416552"/>
            <a:ext cx="3749040" cy="502920"/>
          </a:xfrm>
          <a:prstGeom prst="rect">
            <a:avLst/>
          </a:prstGeom>
          <a:solidFill>
            <a:srgbClr val="132A3E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44" name="Text 40"/>
          <p:cNvSpPr/>
          <p:nvPr/>
        </p:nvSpPr>
        <p:spPr>
          <a:xfrm>
            <a:off x="5193792" y="444398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45" name="Text 41"/>
          <p:cNvSpPr/>
          <p:nvPr/>
        </p:nvSpPr>
        <p:spPr>
          <a:xfrm>
            <a:off x="5193792" y="469087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B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prototype for store managers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|  DATA COLLECTION &amp; ML MODEL SPECIFICATIONS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 &amp; TARGET VARIABLE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8878719"/>
              </p:ext>
            </p:extLst>
          </p:nvPr>
        </p:nvGraphicFramePr>
        <p:xfrm>
          <a:off x="320040" y="1024128"/>
          <a:ext cx="8503920" cy="3346704"/>
        </p:xfrm>
        <a:graphic>
          <a:graphicData uri="http://schemas.openxmlformats.org/drawingml/2006/table">
            <a:tbl>
              <a:tblPr/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/ Variable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number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TVET MIS / LMS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(X)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585112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Practical sessions per week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Timetables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(X)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561903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 type (1=cooking, 2=Bakery, 3=Hotel Service)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Calendar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(X)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Hours per session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Timetables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(X)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Historical consumption (kg/liters)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registers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(X)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 (1=Low, 2=Medium, 3=High training season)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Calendar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(X)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Procurement record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(X)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Consumable demand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registers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(Y)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|  CONCLUSION</a:t>
            </a:r>
            <a:endParaRPr 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2AB703-6F9F-79C1-7612-C43BAB760D4E}"/>
              </a:ext>
            </a:extLst>
          </p:cNvPr>
          <p:cNvSpPr txBox="1"/>
          <p:nvPr/>
        </p:nvSpPr>
        <p:spPr>
          <a:xfrm>
            <a:off x="594360" y="749807"/>
            <a:ext cx="7955280" cy="2957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Th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is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 research will set out to develop and validate a machine learning framework for predicting hospitality consumable demand in Rwandan TVET institutions. This study will address a critical operational challenge facing TVET hospitality programs due to absence of data-driven tools to forecast consumable requirements, leading to either wasteful overstocking or disruptive stockouts during practical training and examination periods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, optimizing procurement costs and improving training resource  allocation.  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95307-C628-B981-91DF-5C2E41137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28307DF-8462-9140-F43F-79830C14D825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CE07ACA-857B-5B1A-B291-80101B29D230}"/>
              </a:ext>
            </a:extLst>
          </p:cNvPr>
          <p:cNvSpPr/>
          <p:nvPr/>
        </p:nvSpPr>
        <p:spPr>
          <a:xfrm>
            <a:off x="365760" y="10972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952786-954F-F9C9-CD50-3CF9F04994DA}"/>
              </a:ext>
            </a:extLst>
          </p:cNvPr>
          <p:cNvSpPr txBox="1"/>
          <p:nvPr/>
        </p:nvSpPr>
        <p:spPr>
          <a:xfrm>
            <a:off x="365760" y="640080"/>
            <a:ext cx="8478835" cy="461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Ferreira et al. (2021)</a:t>
            </a:r>
            <a:r>
              <a:rPr lang="en-US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. </a:t>
            </a:r>
            <a:r>
              <a:rPr lang="en-US" dirty="0"/>
              <a:t>Machine learning techniques for cafeteria demand forecasting: An institutional case. </a:t>
            </a:r>
            <a:r>
              <a:rPr lang="en-US" i="1" dirty="0"/>
              <a:t>OPUS Journal of Society Research</a:t>
            </a:r>
            <a:r>
              <a:rPr lang="en-US" dirty="0"/>
              <a:t>, 22(3), 532-549. 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Mugisha &amp; </a:t>
            </a:r>
            <a:r>
              <a:rPr lang="en-US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Uwera</a:t>
            </a: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(2021)</a:t>
            </a:r>
            <a:r>
              <a:rPr lang="en-US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 .</a:t>
            </a:r>
            <a:r>
              <a:rPr lang="en-US" dirty="0" err="1"/>
              <a:t>SmartMeals</a:t>
            </a:r>
            <a:r>
              <a:rPr lang="en-US" dirty="0"/>
              <a:t>: Real-time institutional food demand forecasting using hybrid LSTM with attention and temporal feature engineering. </a:t>
            </a:r>
            <a:r>
              <a:rPr lang="en-US" i="1" dirty="0"/>
              <a:t>Proceedings of the 1st Engineering Data Analytics and Management Conference (EAMCON 2025)</a:t>
            </a:r>
            <a:r>
              <a:rPr lang="en-US" dirty="0"/>
              <a:t>, 500-512. 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 et al. (2022)</a:t>
            </a:r>
            <a:r>
              <a:rPr lang="en-US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. </a:t>
            </a:r>
            <a:r>
              <a:rPr lang="en-US" dirty="0"/>
              <a:t>Small business customized demand forecasting that can start even with insufficient data. 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Ministry of Education, Rwanda. (2025). Minister Nsengimana champions TVET as catalyst for Rwanda's economic transformation at Global Skills Connect 2025. </a:t>
            </a:r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6718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6CFD34-0DBD-6FC0-924E-0E8BAFB56788}"/>
              </a:ext>
            </a:extLst>
          </p:cNvPr>
          <p:cNvSpPr txBox="1"/>
          <p:nvPr/>
        </p:nvSpPr>
        <p:spPr>
          <a:xfrm>
            <a:off x="3592864" y="2388601"/>
            <a:ext cx="32651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THANK YOU !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34606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1340</Words>
  <Application>Microsoft Office PowerPoint</Application>
  <PresentationFormat>On-screen Show (16:9)</PresentationFormat>
  <Paragraphs>246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quote-cjk-patch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Model for Predicting Consumable Demand in TVET Hospitality - Rwanda</dc:title>
  <dc:subject>PptxGenJS Presentation</dc:subject>
  <dc:creator>PptxGenJS</dc:creator>
  <cp:lastModifiedBy>NIRERE UMUHIRE Marie Claire</cp:lastModifiedBy>
  <cp:revision>32</cp:revision>
  <dcterms:created xsi:type="dcterms:W3CDTF">2026-04-07T07:08:04Z</dcterms:created>
  <dcterms:modified xsi:type="dcterms:W3CDTF">2026-04-08T16:24:56Z</dcterms:modified>
</cp:coreProperties>
</file>